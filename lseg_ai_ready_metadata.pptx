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model as the previous slide; what changes is the input. LSEG data carries entity resolution (PermID), field definitions, units, point-in-time dates and classifications, so the model looks things up rather than guessing. The red strip shows the same question on raw data: wrong listing, a 100x pence/pounds error, and look-ahead bias from restated EPS. Replace [x] and [y] with live figures before presenting.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5603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AI answers correctly on LSEG data: </a:t>
            </a:r>
            <a:pPr algn="ctr" indent="0" marL="0">
              <a:buNone/>
            </a:pPr>
            <a:r>
              <a:rPr lang="en-US" sz="190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explains itself.</a:t>
            </a:r>
            <a:endParaRPr lang="en-US" sz="19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7315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MODEL  ·  SAME QUESTION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320040" y="1078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50" kern="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QUESTION, AND THE CONTEXT AROUND IT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2514600" cy="420624"/>
          </a:xfrm>
          <a:prstGeom prst="roundRect">
            <a:avLst>
              <a:gd name="adj" fmla="val 13043"/>
            </a:avLst>
          </a:prstGeom>
          <a:solidFill>
            <a:srgbClr val="E6E6EE"/>
          </a:solidFill>
          <a:ln w="12700">
            <a:solidFill>
              <a:srgbClr val="2E3A8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4632" y="1389888"/>
            <a:ext cx="2368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"How does Vodafone's valuation compare to its peers?"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1883664"/>
            <a:ext cx="233172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2E3A8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1883664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Entity:  </a:t>
            </a:r>
            <a:pPr algn="ctr" indent="0" marL="0">
              <a:buNone/>
            </a:pPr>
            <a:r>
              <a:rPr lang="en-US" sz="85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Vodafone Group Plc → one PermID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233172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2E3A8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76072" y="2148840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Field:  </a:t>
            </a:r>
            <a:pPr algn="ctr" indent="0" marL="0">
              <a:buNone/>
            </a:pPr>
            <a:r>
              <a:rPr lang="en-US" sz="85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Fwd P/E = price ÷ I/B/E/S FY1 EPS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02920" y="2414016"/>
            <a:ext cx="233172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2E3A8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76072" y="2414016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Units:  </a:t>
            </a:r>
            <a:pPr algn="ctr" indent="0" marL="0">
              <a:buNone/>
            </a:pPr>
            <a:r>
              <a:rPr lang="en-US" sz="85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GBp, not GBP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02920" y="2679192"/>
            <a:ext cx="233172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2E3A8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76072" y="2679192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As-of:  </a:t>
            </a:r>
            <a:pPr algn="ctr" indent="0" marL="0">
              <a:buNone/>
            </a:pPr>
            <a:r>
              <a:rPr lang="en-US" sz="85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point-in-time, not restated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502920" y="2944368"/>
            <a:ext cx="2331720" cy="210312"/>
          </a:xfrm>
          <a:prstGeom prst="roundRect">
            <a:avLst>
              <a:gd name="adj" fmla="val 21739"/>
            </a:avLst>
          </a:prstGeom>
          <a:solidFill>
            <a:srgbClr val="FFFFFF"/>
          </a:solidFill>
          <a:ln w="9525">
            <a:solidFill>
              <a:srgbClr val="2E3A8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76072" y="2944368"/>
            <a:ext cx="218541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Peers:  </a:t>
            </a:r>
            <a:pPr algn="ctr" indent="0" marL="0">
              <a:buNone/>
            </a:pPr>
            <a:r>
              <a:rPr lang="en-US" sz="85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TRBC telecoms classification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035808" y="2148840"/>
            <a:ext cx="274320" cy="0"/>
          </a:xfrm>
          <a:prstGeom prst="line">
            <a:avLst/>
          </a:prstGeom>
          <a:noFill/>
          <a:ln w="15875">
            <a:solidFill>
              <a:srgbClr val="2E3A87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650992" y="2148840"/>
            <a:ext cx="274320" cy="0"/>
          </a:xfrm>
          <a:prstGeom prst="line">
            <a:avLst/>
          </a:prstGeom>
          <a:noFill/>
          <a:ln w="15875">
            <a:solidFill>
              <a:srgbClr val="2E3A8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 flipV="1">
            <a:off x="3520440" y="1234440"/>
            <a:ext cx="640080" cy="22288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0440" y="1457325"/>
            <a:ext cx="640080" cy="3184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0440" y="1457325"/>
            <a:ext cx="640080" cy="28656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0440" y="1457325"/>
            <a:ext cx="640080" cy="54129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0440" y="1457325"/>
            <a:ext cx="640080" cy="79601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0440" y="1457325"/>
            <a:ext cx="640080" cy="105074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0440" y="1457325"/>
            <a:ext cx="640080" cy="130546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20440" y="1457325"/>
            <a:ext cx="640080" cy="156019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3520440" y="1234440"/>
            <a:ext cx="640080" cy="49034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3520440" y="1489166"/>
            <a:ext cx="640080" cy="23562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520440" y="1724787"/>
            <a:ext cx="640080" cy="1910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1724787"/>
            <a:ext cx="640080" cy="27383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0440" y="1724787"/>
            <a:ext cx="640080" cy="52855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520440" y="1724787"/>
            <a:ext cx="640080" cy="78328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1724787"/>
            <a:ext cx="640080" cy="103800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20440" y="1724787"/>
            <a:ext cx="640080" cy="129273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3520440" y="1234440"/>
            <a:ext cx="640080" cy="75780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3520440" y="1489166"/>
            <a:ext cx="640080" cy="50308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flipV="1">
            <a:off x="3520440" y="1743891"/>
            <a:ext cx="640080" cy="24835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20440" y="1992249"/>
            <a:ext cx="640080" cy="636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520440" y="1992249"/>
            <a:ext cx="640080" cy="26109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520440" y="1992249"/>
            <a:ext cx="640080" cy="51582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520440" y="1992249"/>
            <a:ext cx="640080" cy="77054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520440" y="1992249"/>
            <a:ext cx="640080" cy="102527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3520440" y="1234440"/>
            <a:ext cx="640080" cy="102527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3520440" y="1489166"/>
            <a:ext cx="640080" cy="77054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flipV="1">
            <a:off x="3520440" y="1743891"/>
            <a:ext cx="640080" cy="51582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flipV="1">
            <a:off x="3520440" y="1998617"/>
            <a:ext cx="640080" cy="26109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flipV="1">
            <a:off x="3520440" y="2253343"/>
            <a:ext cx="640080" cy="636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0440" y="2259711"/>
            <a:ext cx="640080" cy="24835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3520440" y="2259711"/>
            <a:ext cx="640080" cy="50308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20440" y="2259711"/>
            <a:ext cx="640080" cy="75780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flipV="1">
            <a:off x="3520440" y="1234440"/>
            <a:ext cx="640080" cy="129273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flipV="1">
            <a:off x="3520440" y="1489166"/>
            <a:ext cx="640080" cy="103800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flipV="1">
            <a:off x="3520440" y="1743891"/>
            <a:ext cx="640080" cy="78328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flipV="1">
            <a:off x="3520440" y="1998617"/>
            <a:ext cx="640080" cy="52855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flipV="1">
            <a:off x="3520440" y="2253343"/>
            <a:ext cx="640080" cy="27383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flipV="1">
            <a:off x="3520440" y="2508069"/>
            <a:ext cx="640080" cy="1910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520440" y="2527173"/>
            <a:ext cx="640080" cy="23562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520440" y="2527173"/>
            <a:ext cx="640080" cy="49034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flipV="1">
            <a:off x="3520440" y="1234440"/>
            <a:ext cx="640080" cy="156019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flipV="1">
            <a:off x="3520440" y="1489166"/>
            <a:ext cx="640080" cy="130546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flipV="1">
            <a:off x="3520440" y="1743891"/>
            <a:ext cx="640080" cy="105074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flipV="1">
            <a:off x="3520440" y="1998617"/>
            <a:ext cx="640080" cy="79601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flipV="1">
            <a:off x="3520440" y="2253343"/>
            <a:ext cx="640080" cy="54129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flipV="1">
            <a:off x="3520440" y="2508069"/>
            <a:ext cx="640080" cy="28656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flipV="1">
            <a:off x="3520440" y="2762794"/>
            <a:ext cx="640080" cy="3184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520440" y="2794635"/>
            <a:ext cx="640080" cy="22288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160520" y="1234440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160520" y="1234440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60520" y="1234440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60520" y="1234440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160520" y="1234440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160520" y="1234440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60520" y="1234440"/>
            <a:ext cx="640080" cy="152835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60520" y="1234440"/>
            <a:ext cx="640080" cy="178308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flipV="1">
            <a:off x="4160520" y="1234440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4160520" y="1489166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160520" y="1489166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4160520" y="1489166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160520" y="1489166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160520" y="1489166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160520" y="1489166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4160520" y="1489166"/>
            <a:ext cx="640080" cy="152835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flipV="1">
            <a:off x="4160520" y="1234440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 flipV="1">
            <a:off x="4160520" y="1489166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4160520" y="1743891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4160520" y="1743891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4160520" y="1743891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160520" y="1743891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4160520" y="1743891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160520" y="1743891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flipV="1">
            <a:off x="4160520" y="1234440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flipV="1">
            <a:off x="4160520" y="1489166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 flipV="1">
            <a:off x="4160520" y="1743891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160520" y="1998617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4160520" y="1998617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160520" y="1998617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4160520" y="1998617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4160520" y="1998617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 flipV="1">
            <a:off x="4160520" y="1234440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flipV="1">
            <a:off x="4160520" y="1489166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flipV="1">
            <a:off x="4160520" y="1743891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 flipV="1">
            <a:off x="4160520" y="1998617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4160520" y="2253343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4160520" y="2253343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160520" y="2253343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4160520" y="2253343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flipV="1">
            <a:off x="4160520" y="1234440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 flipV="1">
            <a:off x="4160520" y="1489166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4160520" y="1743891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4160520" y="1998617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4160520" y="2253343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4160520" y="2508069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160520" y="2508069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160520" y="2508069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4160520" y="1234440"/>
            <a:ext cx="640080" cy="152835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4160520" y="1489166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4160520" y="1743891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4160520" y="1998617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4160520" y="2253343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4160520" y="2508069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4160520" y="2762794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4160520" y="2762794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4160520" y="1234440"/>
            <a:ext cx="640080" cy="178308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4160520" y="1489166"/>
            <a:ext cx="640080" cy="152835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4160520" y="1743891"/>
            <a:ext cx="640080" cy="127362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4160520" y="1998617"/>
            <a:ext cx="640080" cy="101890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4160520" y="2253343"/>
            <a:ext cx="640080" cy="76417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4160520" y="2508069"/>
            <a:ext cx="640080" cy="50945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4160520" y="2762794"/>
            <a:ext cx="640080" cy="25472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4160520" y="3017520"/>
            <a:ext cx="640080" cy="9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4800600" y="1234440"/>
            <a:ext cx="640080" cy="22288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4800600" y="1234440"/>
            <a:ext cx="640080" cy="49034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800600" y="1234440"/>
            <a:ext cx="640080" cy="75780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800600" y="1234440"/>
            <a:ext cx="640080" cy="102527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800600" y="1234440"/>
            <a:ext cx="640080" cy="129273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4800600" y="1234440"/>
            <a:ext cx="640080" cy="156019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00600" y="1457325"/>
            <a:ext cx="640080" cy="3184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4800600" y="1489166"/>
            <a:ext cx="640080" cy="23562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4800600" y="1489166"/>
            <a:ext cx="640080" cy="50308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>
            <a:off x="4800600" y="1489166"/>
            <a:ext cx="640080" cy="77054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4800600" y="1489166"/>
            <a:ext cx="640080" cy="103800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4800600" y="1489166"/>
            <a:ext cx="640080" cy="130546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flipV="1">
            <a:off x="4800600" y="1457325"/>
            <a:ext cx="640080" cy="28656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4800600" y="1724787"/>
            <a:ext cx="640080" cy="1910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4800600" y="1743891"/>
            <a:ext cx="640080" cy="24835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4800600" y="1743891"/>
            <a:ext cx="640080" cy="51582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4800600" y="1743891"/>
            <a:ext cx="640080" cy="78328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4800600" y="1743891"/>
            <a:ext cx="640080" cy="105074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flipV="1">
            <a:off x="4800600" y="1457325"/>
            <a:ext cx="640080" cy="54129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flipV="1">
            <a:off x="4800600" y="1724787"/>
            <a:ext cx="640080" cy="27383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flipV="1">
            <a:off x="4800600" y="1992249"/>
            <a:ext cx="640080" cy="636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4800600" y="1998617"/>
            <a:ext cx="640080" cy="26109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4800600" y="1998617"/>
            <a:ext cx="640080" cy="52855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4800600" y="1998617"/>
            <a:ext cx="640080" cy="79601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flipV="1">
            <a:off x="4800600" y="1457325"/>
            <a:ext cx="640080" cy="79601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flipV="1">
            <a:off x="4800600" y="1724787"/>
            <a:ext cx="640080" cy="52855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flipV="1">
            <a:off x="4800600" y="1992249"/>
            <a:ext cx="640080" cy="26109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4800600" y="2253343"/>
            <a:ext cx="640080" cy="636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4800600" y="2253343"/>
            <a:ext cx="640080" cy="27383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4800600" y="2253343"/>
            <a:ext cx="640080" cy="54129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flipV="1">
            <a:off x="4800600" y="1457325"/>
            <a:ext cx="640080" cy="105074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flipV="1">
            <a:off x="4800600" y="1724787"/>
            <a:ext cx="640080" cy="783282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4800600" y="1992249"/>
            <a:ext cx="640080" cy="515820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flipV="1">
            <a:off x="4800600" y="2259711"/>
            <a:ext cx="640080" cy="248358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4800600" y="2508069"/>
            <a:ext cx="640080" cy="19104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4800600" y="2508069"/>
            <a:ext cx="640080" cy="286566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flipV="1">
            <a:off x="4800600" y="1457325"/>
            <a:ext cx="640080" cy="130546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4800600" y="1724787"/>
            <a:ext cx="640080" cy="103800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flipV="1">
            <a:off x="4800600" y="1992249"/>
            <a:ext cx="640080" cy="77054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4800600" y="2259711"/>
            <a:ext cx="640080" cy="50308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flipV="1">
            <a:off x="4800600" y="2527173"/>
            <a:ext cx="640080" cy="23562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>
            <a:off x="4800600" y="2762794"/>
            <a:ext cx="640080" cy="3184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4800600" y="1457325"/>
            <a:ext cx="640080" cy="156019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4800600" y="1724787"/>
            <a:ext cx="640080" cy="1292733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4800600" y="1992249"/>
            <a:ext cx="640080" cy="1025271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4800600" y="2259711"/>
            <a:ext cx="640080" cy="757809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4800600" y="2527173"/>
            <a:ext cx="640080" cy="490347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4800600" y="2794635"/>
            <a:ext cx="640080" cy="222885"/>
          </a:xfrm>
          <a:prstGeom prst="line">
            <a:avLst/>
          </a:prstGeom>
          <a:noFill/>
          <a:ln w="5080">
            <a:solidFill>
              <a:srgbClr val="8E9AD6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3479292" y="1416177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>
            <a:off x="3479292" y="1683639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>
            <a:off x="3479292" y="1951101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>
            <a:off x="3479292" y="2218563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>
            <a:off x="3479292" y="2486025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>
            <a:off x="3479292" y="2753487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>
            <a:off x="4119372" y="1193292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>
            <a:off x="4119372" y="1448018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4119372" y="1702743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>
            <a:off x="4119372" y="1957469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>
            <a:off x="4119372" y="2212195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>
            <a:off x="4119372" y="2466921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>
            <a:off x="4119372" y="2721646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>
            <a:off x="4119372" y="2976372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>
            <a:off x="4759452" y="1193292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>
            <a:off x="4759452" y="1448018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759452" y="1702743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4759452" y="1957469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>
            <a:off x="4759452" y="2212195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>
            <a:off x="4759452" y="2466921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>
            <a:off x="4759452" y="2721646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>
            <a:off x="4759452" y="2976372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5399532" y="1416177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5399532" y="1683639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5399532" y="1951101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5399532" y="2218563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>
            <a:off x="5399532" y="2486025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>
            <a:off x="5399532" y="2753487"/>
            <a:ext cx="82296" cy="82296"/>
          </a:xfrm>
          <a:prstGeom prst="ellipse">
            <a:avLst/>
          </a:prstGeom>
          <a:solidFill>
            <a:srgbClr val="1E2233"/>
          </a:solidFill>
          <a:ln w="6350">
            <a:solidFill>
              <a:srgbClr val="1E2233"/>
            </a:solidFill>
            <a:prstDash val="solid"/>
          </a:ln>
        </p:spPr>
      </p:sp>
      <p:sp>
        <p:nvSpPr>
          <p:cNvPr id="207" name="Text 205"/>
          <p:cNvSpPr txBox="1"/>
          <p:nvPr/>
        </p:nvSpPr>
        <p:spPr>
          <a:xfrm>
            <a:off x="6035040" y="1078992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E3A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ANSWER, ONE TOKEN AT A TIME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6193231" y="1426464"/>
            <a:ext cx="64373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09" name="Text 207"/>
          <p:cNvSpPr txBox="1"/>
          <p:nvPr/>
        </p:nvSpPr>
        <p:spPr>
          <a:xfrm>
            <a:off x="6193231" y="1426464"/>
            <a:ext cx="643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Vodafone</a:t>
            </a:r>
            <a:endParaRPr lang="en-US" sz="900" dirty="0"/>
          </a:p>
        </p:txBody>
      </p:sp>
      <p:sp>
        <p:nvSpPr>
          <p:cNvPr id="210" name="Shape 208"/>
          <p:cNvSpPr/>
          <p:nvPr/>
        </p:nvSpPr>
        <p:spPr>
          <a:xfrm>
            <a:off x="6891833" y="1426464"/>
            <a:ext cx="519379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11" name="Text 209"/>
          <p:cNvSpPr txBox="1"/>
          <p:nvPr/>
        </p:nvSpPr>
        <p:spPr>
          <a:xfrm>
            <a:off x="6891833" y="1426464"/>
            <a:ext cx="51937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trades</a:t>
            </a:r>
            <a:endParaRPr lang="en-US" sz="900" dirty="0"/>
          </a:p>
        </p:txBody>
      </p:sp>
      <p:sp>
        <p:nvSpPr>
          <p:cNvPr id="212" name="Shape 210"/>
          <p:cNvSpPr/>
          <p:nvPr/>
        </p:nvSpPr>
        <p:spPr>
          <a:xfrm>
            <a:off x="7466076" y="1426464"/>
            <a:ext cx="27066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13" name="Text 211"/>
          <p:cNvSpPr txBox="1"/>
          <p:nvPr/>
        </p:nvSpPr>
        <p:spPr>
          <a:xfrm>
            <a:off x="7466076" y="1426464"/>
            <a:ext cx="2706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</a:t>
            </a:r>
            <a:endParaRPr lang="en-US" sz="900" dirty="0"/>
          </a:p>
        </p:txBody>
      </p:sp>
      <p:sp>
        <p:nvSpPr>
          <p:cNvPr id="214" name="Shape 212"/>
          <p:cNvSpPr/>
          <p:nvPr/>
        </p:nvSpPr>
        <p:spPr>
          <a:xfrm>
            <a:off x="7791602" y="1426464"/>
            <a:ext cx="395021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15" name="Text 213"/>
          <p:cNvSpPr txBox="1"/>
          <p:nvPr/>
        </p:nvSpPr>
        <p:spPr>
          <a:xfrm>
            <a:off x="7791602" y="1426464"/>
            <a:ext cx="3950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[x]x</a:t>
            </a:r>
            <a:endParaRPr lang="en-US" sz="900" dirty="0"/>
          </a:p>
        </p:txBody>
      </p:sp>
      <p:sp>
        <p:nvSpPr>
          <p:cNvPr id="216" name="Shape 214"/>
          <p:cNvSpPr/>
          <p:nvPr/>
        </p:nvSpPr>
        <p:spPr>
          <a:xfrm>
            <a:off x="8241487" y="1426464"/>
            <a:ext cx="33284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17" name="Text 215"/>
          <p:cNvSpPr txBox="1"/>
          <p:nvPr/>
        </p:nvSpPr>
        <p:spPr>
          <a:xfrm>
            <a:off x="8241487" y="1426464"/>
            <a:ext cx="33284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FY1</a:t>
            </a:r>
            <a:endParaRPr lang="en-US" sz="900" dirty="0"/>
          </a:p>
        </p:txBody>
      </p:sp>
      <p:sp>
        <p:nvSpPr>
          <p:cNvPr id="218" name="Shape 216"/>
          <p:cNvSpPr/>
          <p:nvPr/>
        </p:nvSpPr>
        <p:spPr>
          <a:xfrm>
            <a:off x="6213348" y="1746504"/>
            <a:ext cx="64373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19" name="Text 217"/>
          <p:cNvSpPr txBox="1"/>
          <p:nvPr/>
        </p:nvSpPr>
        <p:spPr>
          <a:xfrm>
            <a:off x="6213348" y="1746504"/>
            <a:ext cx="643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900" dirty="0"/>
          </a:p>
        </p:txBody>
      </p:sp>
      <p:sp>
        <p:nvSpPr>
          <p:cNvPr id="220" name="Shape 218"/>
          <p:cNvSpPr/>
          <p:nvPr/>
        </p:nvSpPr>
        <p:spPr>
          <a:xfrm>
            <a:off x="6911950" y="1746504"/>
            <a:ext cx="219456" cy="24688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21" name="Text 219"/>
          <p:cNvSpPr txBox="1"/>
          <p:nvPr/>
        </p:nvSpPr>
        <p:spPr>
          <a:xfrm>
            <a:off x="6911950" y="174650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</a:t>
            </a:r>
            <a:endParaRPr lang="en-US" sz="900" dirty="0"/>
          </a:p>
        </p:txBody>
      </p:sp>
      <p:sp>
        <p:nvSpPr>
          <p:cNvPr id="222" name="Shape 220"/>
          <p:cNvSpPr/>
          <p:nvPr/>
        </p:nvSpPr>
        <p:spPr>
          <a:xfrm>
            <a:off x="7186270" y="1746504"/>
            <a:ext cx="219456" cy="246888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23" name="Text 221"/>
          <p:cNvSpPr txBox="1"/>
          <p:nvPr/>
        </p:nvSpPr>
        <p:spPr>
          <a:xfrm>
            <a:off x="7186270" y="174650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00" dirty="0"/>
          </a:p>
        </p:txBody>
      </p:sp>
      <p:sp>
        <p:nvSpPr>
          <p:cNvPr id="224" name="Shape 222"/>
          <p:cNvSpPr/>
          <p:nvPr/>
        </p:nvSpPr>
        <p:spPr>
          <a:xfrm>
            <a:off x="7460590" y="1746504"/>
            <a:ext cx="395021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25" name="Text 223"/>
          <p:cNvSpPr txBox="1"/>
          <p:nvPr/>
        </p:nvSpPr>
        <p:spPr>
          <a:xfrm>
            <a:off x="7460590" y="1746504"/>
            <a:ext cx="395021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[y]%</a:t>
            </a:r>
            <a:endParaRPr lang="en-US" sz="900" dirty="0"/>
          </a:p>
        </p:txBody>
      </p:sp>
      <p:sp>
        <p:nvSpPr>
          <p:cNvPr id="226" name="Shape 224"/>
          <p:cNvSpPr/>
          <p:nvPr/>
        </p:nvSpPr>
        <p:spPr>
          <a:xfrm>
            <a:off x="7910474" y="1746504"/>
            <a:ext cx="643738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27" name="Text 225"/>
          <p:cNvSpPr txBox="1"/>
          <p:nvPr/>
        </p:nvSpPr>
        <p:spPr>
          <a:xfrm>
            <a:off x="7910474" y="1746504"/>
            <a:ext cx="64373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discount</a:t>
            </a:r>
            <a:endParaRPr lang="en-US" sz="900" dirty="0"/>
          </a:p>
        </p:txBody>
      </p:sp>
      <p:sp>
        <p:nvSpPr>
          <p:cNvPr id="228" name="Shape 226"/>
          <p:cNvSpPr/>
          <p:nvPr/>
        </p:nvSpPr>
        <p:spPr>
          <a:xfrm>
            <a:off x="6668719" y="2066544"/>
            <a:ext cx="270662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29" name="Text 227"/>
          <p:cNvSpPr txBox="1"/>
          <p:nvPr/>
        </p:nvSpPr>
        <p:spPr>
          <a:xfrm>
            <a:off x="6668719" y="2066544"/>
            <a:ext cx="27066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</a:t>
            </a:r>
            <a:endParaRPr lang="en-US" sz="900" dirty="0"/>
          </a:p>
        </p:txBody>
      </p:sp>
      <p:sp>
        <p:nvSpPr>
          <p:cNvPr id="230" name="Shape 228"/>
          <p:cNvSpPr/>
          <p:nvPr/>
        </p:nvSpPr>
        <p:spPr>
          <a:xfrm>
            <a:off x="6994246" y="2066544"/>
            <a:ext cx="830275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9525">
            <a:solidFill>
              <a:srgbClr val="2B2E2A"/>
            </a:solidFill>
            <a:prstDash val="solid"/>
          </a:ln>
        </p:spPr>
      </p:sp>
      <p:sp>
        <p:nvSpPr>
          <p:cNvPr id="231" name="Text 229"/>
          <p:cNvSpPr txBox="1"/>
          <p:nvPr/>
        </p:nvSpPr>
        <p:spPr>
          <a:xfrm>
            <a:off x="6994246" y="2066544"/>
            <a:ext cx="830275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telecoms</a:t>
            </a:r>
            <a:endParaRPr lang="en-US" sz="900" dirty="0"/>
          </a:p>
        </p:txBody>
      </p:sp>
      <p:sp>
        <p:nvSpPr>
          <p:cNvPr id="232" name="Shape 230"/>
          <p:cNvSpPr/>
          <p:nvPr/>
        </p:nvSpPr>
        <p:spPr>
          <a:xfrm>
            <a:off x="7879385" y="2066544"/>
            <a:ext cx="219456" cy="246888"/>
          </a:xfrm>
          <a:prstGeom prst="roundRect">
            <a:avLst>
              <a:gd name="adj" fmla="val 20833"/>
            </a:avLst>
          </a:prstGeom>
          <a:solidFill>
            <a:srgbClr val="1F3FD1"/>
          </a:solidFill>
          <a:ln w="9525">
            <a:solidFill>
              <a:srgbClr val="1F3FD1"/>
            </a:solidFill>
            <a:prstDash val="solid"/>
          </a:ln>
        </p:spPr>
      </p:sp>
      <p:sp>
        <p:nvSpPr>
          <p:cNvPr id="233" name="Text 231"/>
          <p:cNvSpPr txBox="1"/>
          <p:nvPr/>
        </p:nvSpPr>
        <p:spPr>
          <a:xfrm>
            <a:off x="7879385" y="2066544"/>
            <a:ext cx="219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234" name="Text 232"/>
          <p:cNvSpPr txBox="1"/>
          <p:nvPr/>
        </p:nvSpPr>
        <p:spPr>
          <a:xfrm>
            <a:off x="6035040" y="2404872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E6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company, right field, right currency, right date, with sources</a:t>
            </a:r>
            <a:endParaRPr lang="en-US" sz="850" dirty="0"/>
          </a:p>
        </p:txBody>
      </p:sp>
      <p:sp>
        <p:nvSpPr>
          <p:cNvPr id="235" name="Text 233"/>
          <p:cNvSpPr txBox="1"/>
          <p:nvPr/>
        </p:nvSpPr>
        <p:spPr>
          <a:xfrm>
            <a:off x="3017520" y="312724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E61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metadata removes ambiguity  ·  the model looks up what a field means instead of guessing it</a:t>
            </a:r>
            <a:endParaRPr lang="en-US" sz="800" dirty="0"/>
          </a:p>
        </p:txBody>
      </p:sp>
      <p:sp>
        <p:nvSpPr>
          <p:cNvPr id="236" name="Shape 234"/>
          <p:cNvSpPr/>
          <p:nvPr/>
        </p:nvSpPr>
        <p:spPr>
          <a:xfrm>
            <a:off x="411480" y="3566160"/>
            <a:ext cx="8321040" cy="566928"/>
          </a:xfrm>
          <a:prstGeom prst="roundRect">
            <a:avLst>
              <a:gd name="adj" fmla="val 9677"/>
            </a:avLst>
          </a:prstGeom>
          <a:solidFill>
            <a:srgbClr val="FBEAE8"/>
          </a:solidFill>
          <a:ln w="9525">
            <a:solidFill>
              <a:srgbClr val="E4B4AF"/>
            </a:solidFill>
            <a:prstDash val="solid"/>
          </a:ln>
        </p:spPr>
      </p:sp>
      <p:sp>
        <p:nvSpPr>
          <p:cNvPr id="237" name="Text 235"/>
          <p:cNvSpPr txBox="1"/>
          <p:nvPr/>
        </p:nvSpPr>
        <p:spPr>
          <a:xfrm>
            <a:off x="548640" y="3566160"/>
            <a:ext cx="1188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QUESTION,</a:t>
            </a:r>
            <a:endParaRPr lang="en-US" sz="850" dirty="0"/>
          </a:p>
          <a:p>
            <a:pPr indent="0" marL="0">
              <a:buNone/>
            </a:pPr>
            <a:r>
              <a:rPr lang="en-US" sz="850" b="1" spc="100" kern="0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DATA</a:t>
            </a:r>
            <a:endParaRPr lang="en-US" sz="850" dirty="0"/>
          </a:p>
        </p:txBody>
      </p:sp>
      <p:sp>
        <p:nvSpPr>
          <p:cNvPr id="238" name="Text 236"/>
          <p:cNvSpPr txBox="1"/>
          <p:nvPr/>
        </p:nvSpPr>
        <p:spPr>
          <a:xfrm>
            <a:off x="2011680" y="3566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trike="sngStrike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Wrong entity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"VOD" matched to a different listing</a:t>
            </a:r>
            <a:endParaRPr lang="en-US" sz="1000" dirty="0"/>
          </a:p>
        </p:txBody>
      </p:sp>
      <p:sp>
        <p:nvSpPr>
          <p:cNvPr id="239" name="Text 237"/>
          <p:cNvSpPr txBox="1"/>
          <p:nvPr/>
        </p:nvSpPr>
        <p:spPr>
          <a:xfrm>
            <a:off x="4251960" y="3566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trike="sngStrike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100× error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pence read as pounds</a:t>
            </a:r>
            <a:endParaRPr lang="en-US" sz="1000" dirty="0"/>
          </a:p>
        </p:txBody>
      </p:sp>
      <p:sp>
        <p:nvSpPr>
          <p:cNvPr id="240" name="Text 238"/>
          <p:cNvSpPr txBox="1"/>
          <p:nvPr/>
        </p:nvSpPr>
        <p:spPr>
          <a:xfrm>
            <a:off x="6492240" y="3566160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trike="sngStrike" dirty="0">
                <a:solidFill>
                  <a:srgbClr val="B3261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✕  Look-ahead</a:t>
            </a:r>
            <a:endParaRPr lang="en-US" sz="1000" dirty="0"/>
          </a:p>
          <a:p>
            <a:pPr indent="0" marL="0">
              <a:buNone/>
            </a:pPr>
            <a:r>
              <a:rPr lang="en-US" sz="850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restated EPS used as if known at the time</a:t>
            </a:r>
            <a:endParaRPr lang="en-US" sz="1000" dirty="0"/>
          </a:p>
        </p:txBody>
      </p:sp>
      <p:sp>
        <p:nvSpPr>
          <p:cNvPr id="241" name="Text 239"/>
          <p:cNvSpPr txBox="1"/>
          <p:nvPr/>
        </p:nvSpPr>
        <p:spPr>
          <a:xfrm>
            <a:off x="411480" y="4279392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B2E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Models are becoming a commodity; context is not. LSEG data arrives with its meaning attached.</a:t>
            </a:r>
            <a:endParaRPr lang="en-US" sz="1300" dirty="0"/>
          </a:p>
        </p:txBody>
      </p:sp>
      <p:sp>
        <p:nvSpPr>
          <p:cNvPr id="242" name="Text 240"/>
          <p:cNvSpPr txBox="1"/>
          <p:nvPr/>
        </p:nvSpPr>
        <p:spPr>
          <a:xfrm>
            <a:off x="8412480" y="4800600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9A9C9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2026-09-16T11:22:30Z</dcterms:created>
  <dcterms:modified xsi:type="dcterms:W3CDTF">2026-09-16T11:22:30Z</dcterms:modified>
</cp:coreProperties>
</file>